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7" d="100"/>
          <a:sy n="87" d="100"/>
        </p:scale>
        <p:origin x="68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BFBB3-6140-4CF6-82E5-B9D66C75B3FE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225F9-4C8B-403A-A10A-077DDA378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261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C8C7-3F47-B084-D991-612A0CB485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INVENTORY_CORE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69BB6-3493-40F2-17F1-64E12FD0BF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CI/CD Using </a:t>
            </a:r>
            <a:r>
              <a:rPr lang="en-IN" dirty="0" err="1"/>
              <a:t>github</a:t>
            </a:r>
            <a:r>
              <a:rPr lang="en-IN" dirty="0"/>
              <a:t> actions</a:t>
            </a:r>
          </a:p>
        </p:txBody>
      </p:sp>
    </p:spTree>
    <p:extLst>
      <p:ext uri="{BB962C8B-B14F-4D97-AF65-F5344CB8AC3E}">
        <p14:creationId xmlns:p14="http://schemas.microsoft.com/office/powerpoint/2010/main" val="3364422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282171-CBB5-5DDE-A6A6-CBA3D749EFC4}"/>
              </a:ext>
            </a:extLst>
          </p:cNvPr>
          <p:cNvSpPr txBox="1"/>
          <p:nvPr/>
        </p:nvSpPr>
        <p:spPr>
          <a:xfrm>
            <a:off x="7244019" y="416134"/>
            <a:ext cx="481839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CI (Workflow)</a:t>
            </a:r>
          </a:p>
          <a:p>
            <a:r>
              <a:rPr lang="en-IN" dirty="0"/>
              <a:t>├── Triggers</a:t>
            </a:r>
          </a:p>
          <a:p>
            <a:r>
              <a:rPr lang="en-IN" dirty="0"/>
              <a:t>│   ├── </a:t>
            </a:r>
            <a:r>
              <a:rPr lang="en-IN" dirty="0" err="1"/>
              <a:t>workflow_dispatch</a:t>
            </a:r>
            <a:endParaRPr lang="en-IN" dirty="0"/>
          </a:p>
          <a:p>
            <a:r>
              <a:rPr lang="en-IN" dirty="0"/>
              <a:t>│   ├── </a:t>
            </a:r>
            <a:r>
              <a:rPr lang="en-IN" dirty="0" err="1"/>
              <a:t>workflow_call</a:t>
            </a:r>
            <a:endParaRPr lang="en-IN" dirty="0"/>
          </a:p>
          <a:p>
            <a:r>
              <a:rPr lang="en-IN" dirty="0"/>
              <a:t>│   └── </a:t>
            </a:r>
            <a:r>
              <a:rPr lang="en-IN" dirty="0" err="1"/>
              <a:t>pull_request</a:t>
            </a:r>
            <a:endParaRPr lang="en-IN" dirty="0"/>
          </a:p>
          <a:p>
            <a:r>
              <a:rPr lang="en-IN" dirty="0"/>
              <a:t>│</a:t>
            </a:r>
          </a:p>
          <a:p>
            <a:r>
              <a:rPr lang="en-IN" dirty="0"/>
              <a:t>├── Jobs</a:t>
            </a:r>
          </a:p>
          <a:p>
            <a:r>
              <a:rPr lang="en-IN" dirty="0"/>
              <a:t>│</a:t>
            </a:r>
          </a:p>
          <a:p>
            <a:r>
              <a:rPr lang="en-IN" dirty="0"/>
              <a:t>├── </a:t>
            </a:r>
            <a:r>
              <a:rPr lang="en-IN" dirty="0" err="1"/>
              <a:t>python_validation</a:t>
            </a:r>
            <a:endParaRPr lang="en-IN" dirty="0"/>
          </a:p>
          <a:p>
            <a:r>
              <a:rPr lang="en-IN" dirty="0"/>
              <a:t>│   └── steps</a:t>
            </a:r>
          </a:p>
          <a:p>
            <a:r>
              <a:rPr lang="en-IN" dirty="0"/>
              <a:t>│       ├── Checkout code</a:t>
            </a:r>
          </a:p>
          <a:p>
            <a:r>
              <a:rPr lang="en-IN" dirty="0"/>
              <a:t>│       ├── Set up Python</a:t>
            </a:r>
          </a:p>
          <a:p>
            <a:r>
              <a:rPr lang="en-IN" dirty="0"/>
              <a:t>│       ├── Install dependencies</a:t>
            </a:r>
          </a:p>
          <a:p>
            <a:r>
              <a:rPr lang="en-IN" dirty="0"/>
              <a:t>│       ├── Run Flake8</a:t>
            </a:r>
          </a:p>
          <a:p>
            <a:r>
              <a:rPr lang="en-IN" dirty="0"/>
              <a:t>│       ├── Run Bandit Security Check</a:t>
            </a:r>
          </a:p>
          <a:p>
            <a:r>
              <a:rPr lang="en-IN" dirty="0"/>
              <a:t>│       └── Run </a:t>
            </a:r>
            <a:r>
              <a:rPr lang="en-IN" dirty="0" err="1"/>
              <a:t>Pytest</a:t>
            </a:r>
            <a:endParaRPr lang="en-IN" dirty="0"/>
          </a:p>
          <a:p>
            <a:r>
              <a:rPr lang="en-IN" dirty="0"/>
              <a:t>│</a:t>
            </a:r>
          </a:p>
          <a:p>
            <a:r>
              <a:rPr lang="en-IN" dirty="0"/>
              <a:t>└── </a:t>
            </a:r>
            <a:r>
              <a:rPr lang="en-IN" dirty="0" err="1"/>
              <a:t>sonar_qube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845B2-BA8C-2AB0-425B-F0CC3B34A7E5}"/>
              </a:ext>
            </a:extLst>
          </p:cNvPr>
          <p:cNvSpPr txBox="1"/>
          <p:nvPr/>
        </p:nvSpPr>
        <p:spPr>
          <a:xfrm>
            <a:off x="753836" y="556932"/>
            <a:ext cx="44740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B050"/>
                </a:solidFill>
              </a:rPr>
              <a:t>CI Workflow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55699-4E6A-7443-5CB5-C132843CB668}"/>
              </a:ext>
            </a:extLst>
          </p:cNvPr>
          <p:cNvSpPr txBox="1"/>
          <p:nvPr/>
        </p:nvSpPr>
        <p:spPr>
          <a:xfrm>
            <a:off x="753836" y="3093790"/>
            <a:ext cx="45223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Our CI pipeline ensures code quality, security, and correctness before merging any PR.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prevents broken code, enforces coding standards, and secures the application before it goes to production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086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41FDEC-E842-6D80-C417-86AFD57C9C52}"/>
              </a:ext>
            </a:extLst>
          </p:cNvPr>
          <p:cNvSpPr txBox="1"/>
          <p:nvPr/>
        </p:nvSpPr>
        <p:spPr>
          <a:xfrm>
            <a:off x="315686" y="304800"/>
            <a:ext cx="5040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Workflow Triggers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D57F1D-1DBF-24AE-F52E-180D29D2B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591300"/>
              </p:ext>
            </p:extLst>
          </p:nvPr>
        </p:nvGraphicFramePr>
        <p:xfrm>
          <a:off x="887630" y="3495719"/>
          <a:ext cx="10441074" cy="1752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490722">
                  <a:extLst>
                    <a:ext uri="{9D8B030D-6E8A-4147-A177-3AD203B41FA5}">
                      <a16:colId xmlns:a16="http://schemas.microsoft.com/office/drawing/2014/main" val="1604056288"/>
                    </a:ext>
                  </a:extLst>
                </a:gridCol>
                <a:gridCol w="7950352">
                  <a:extLst>
                    <a:ext uri="{9D8B030D-6E8A-4147-A177-3AD203B41FA5}">
                      <a16:colId xmlns:a16="http://schemas.microsoft.com/office/drawing/2014/main" val="2927842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Trigger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Description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136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/>
                        <a:t>workflow_dispatch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Manual trigger from GitHub UI. Useful for running the workflow on demand.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343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/>
                        <a:t>workflow_call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Allows this workflow to be </a:t>
                      </a:r>
                      <a:r>
                        <a:rPr lang="en-GB" sz="1800" b="1" dirty="0"/>
                        <a:t>reused</a:t>
                      </a:r>
                      <a:r>
                        <a:rPr lang="en-GB" sz="1800" dirty="0"/>
                        <a:t> as a reusable workflow by other workflows.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268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/>
                        <a:t>pull_request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Automatically runs when a </a:t>
                      </a:r>
                      <a:r>
                        <a:rPr lang="en-GB" sz="1800" b="1" dirty="0"/>
                        <a:t>Pull Request is created or updated</a:t>
                      </a:r>
                      <a:r>
                        <a:rPr lang="en-GB" sz="1800" dirty="0"/>
                        <a:t>. Ensures only validated code is merged.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185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60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A34299-27DD-EED6-C411-6BCD73F4F344}"/>
              </a:ext>
            </a:extLst>
          </p:cNvPr>
          <p:cNvSpPr txBox="1"/>
          <p:nvPr/>
        </p:nvSpPr>
        <p:spPr>
          <a:xfrm>
            <a:off x="544318" y="386068"/>
            <a:ext cx="236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Checkout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630193-2CAF-7700-4CE2-A85E0EAD3036}"/>
              </a:ext>
            </a:extLst>
          </p:cNvPr>
          <p:cNvSpPr txBox="1"/>
          <p:nvPr/>
        </p:nvSpPr>
        <p:spPr>
          <a:xfrm>
            <a:off x="711807" y="1044572"/>
            <a:ext cx="102007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Makes the repo’s source code available inside the runner.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Example: Let’s say you have a VERSION file and setup.py .this step ensures they're available for use in the next steps.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C8AABB-C58E-E0E9-672B-1F8AA3720E8E}"/>
              </a:ext>
            </a:extLst>
          </p:cNvPr>
          <p:cNvSpPr txBox="1"/>
          <p:nvPr/>
        </p:nvSpPr>
        <p:spPr>
          <a:xfrm>
            <a:off x="544318" y="2267650"/>
            <a:ext cx="609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Set up Python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290620-1DD6-EF5A-E555-5ABFCBE43C73}"/>
              </a:ext>
            </a:extLst>
          </p:cNvPr>
          <p:cNvSpPr txBox="1"/>
          <p:nvPr/>
        </p:nvSpPr>
        <p:spPr>
          <a:xfrm>
            <a:off x="711807" y="2845994"/>
            <a:ext cx="6997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installs Python 3.9.17 using our company’s custom setup action.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FD38E4-F1ED-A3E9-1AAF-FC708CAC4A81}"/>
              </a:ext>
            </a:extLst>
          </p:cNvPr>
          <p:cNvSpPr txBox="1"/>
          <p:nvPr/>
        </p:nvSpPr>
        <p:spPr>
          <a:xfrm>
            <a:off x="591348" y="3515074"/>
            <a:ext cx="609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Install Dependencies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253B27-19B7-7BF6-BD43-D287FEFE4DF6}"/>
              </a:ext>
            </a:extLst>
          </p:cNvPr>
          <p:cNvSpPr txBox="1"/>
          <p:nvPr/>
        </p:nvSpPr>
        <p:spPr>
          <a:xfrm>
            <a:off x="761999" y="4076700"/>
            <a:ext cx="3684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Creates a virtual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Activates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Installs necessary requirements</a:t>
            </a:r>
          </a:p>
        </p:txBody>
      </p:sp>
    </p:spTree>
    <p:extLst>
      <p:ext uri="{BB962C8B-B14F-4D97-AF65-F5344CB8AC3E}">
        <p14:creationId xmlns:p14="http://schemas.microsoft.com/office/powerpoint/2010/main" val="3253351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3FFA98-C518-E354-27B1-B0C07CBCD3CC}"/>
              </a:ext>
            </a:extLst>
          </p:cNvPr>
          <p:cNvSpPr txBox="1"/>
          <p:nvPr/>
        </p:nvSpPr>
        <p:spPr>
          <a:xfrm>
            <a:off x="498266" y="261583"/>
            <a:ext cx="609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Code Quality &amp; Testing Block</a:t>
            </a:r>
            <a:r>
              <a:rPr lang="en-IN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8352EB-65CE-2689-BAFA-66AA43393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202806"/>
              </p:ext>
            </p:extLst>
          </p:nvPr>
        </p:nvGraphicFramePr>
        <p:xfrm>
          <a:off x="2356268" y="785370"/>
          <a:ext cx="7479463" cy="20612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6869">
                  <a:extLst>
                    <a:ext uri="{9D8B030D-6E8A-4147-A177-3AD203B41FA5}">
                      <a16:colId xmlns:a16="http://schemas.microsoft.com/office/drawing/2014/main" val="3363369499"/>
                    </a:ext>
                  </a:extLst>
                </a:gridCol>
                <a:gridCol w="1530011">
                  <a:extLst>
                    <a:ext uri="{9D8B030D-6E8A-4147-A177-3AD203B41FA5}">
                      <a16:colId xmlns:a16="http://schemas.microsoft.com/office/drawing/2014/main" val="1333511973"/>
                    </a:ext>
                  </a:extLst>
                </a:gridCol>
                <a:gridCol w="4762583">
                  <a:extLst>
                    <a:ext uri="{9D8B030D-6E8A-4147-A177-3AD203B41FA5}">
                      <a16:colId xmlns:a16="http://schemas.microsoft.com/office/drawing/2014/main" val="4115730575"/>
                    </a:ext>
                  </a:extLst>
                </a:gridCol>
              </a:tblGrid>
              <a:tr h="378067">
                <a:tc>
                  <a:txBody>
                    <a:bodyPr/>
                    <a:lstStyle/>
                    <a:p>
                      <a:r>
                        <a:rPr lang="en-IN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694154"/>
                  </a:ext>
                </a:extLst>
              </a:tr>
              <a:tr h="378067">
                <a:tc>
                  <a:txBody>
                    <a:bodyPr/>
                    <a:lstStyle/>
                    <a:p>
                      <a:r>
                        <a:rPr lang="en-IN" dirty="0"/>
                        <a:t>Flake8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Code linting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Clean, readable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217815"/>
                  </a:ext>
                </a:extLst>
              </a:tr>
              <a:tr h="652554">
                <a:tc>
                  <a:txBody>
                    <a:bodyPr/>
                    <a:lstStyle/>
                    <a:p>
                      <a:r>
                        <a:rPr lang="en-IN" dirty="0"/>
                        <a:t>Bandit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Security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Early detection of vulnerabilities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375515"/>
                  </a:ext>
                </a:extLst>
              </a:tr>
              <a:tr h="652554">
                <a:tc>
                  <a:txBody>
                    <a:bodyPr/>
                    <a:lstStyle/>
                    <a:p>
                      <a:r>
                        <a:rPr lang="en-IN" dirty="0" err="1"/>
                        <a:t>Pytest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Run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Confirms application correctness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0169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91BD86-A9B3-4864-BD0D-E02FA28CD676}"/>
              </a:ext>
            </a:extLst>
          </p:cNvPr>
          <p:cNvSpPr txBox="1"/>
          <p:nvPr/>
        </p:nvSpPr>
        <p:spPr>
          <a:xfrm>
            <a:off x="498266" y="3001067"/>
            <a:ext cx="609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SonarQube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21064-42BE-C578-DB1D-ED017B758B5F}"/>
              </a:ext>
            </a:extLst>
          </p:cNvPr>
          <p:cNvSpPr txBox="1"/>
          <p:nvPr/>
        </p:nvSpPr>
        <p:spPr>
          <a:xfrm>
            <a:off x="678730" y="3429000"/>
            <a:ext cx="66458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Reuses</a:t>
            </a:r>
            <a:r>
              <a:rPr lang="en-IN" dirty="0"/>
              <a:t> a centralized SonarQube workflow from </a:t>
            </a:r>
            <a:r>
              <a:rPr lang="en-IN" dirty="0" err="1"/>
              <a:t>SystemTeam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Waits for </a:t>
            </a:r>
            <a:r>
              <a:rPr lang="en-IN" dirty="0" err="1"/>
              <a:t>python_validation</a:t>
            </a:r>
            <a:r>
              <a:rPr lang="en-IN" dirty="0"/>
              <a:t> job to complete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Inputs: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Sonar config from Jenkins/</a:t>
            </a:r>
            <a:r>
              <a:rPr lang="en-IN" dirty="0" err="1"/>
              <a:t>sonar.properties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Scanner version specified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Uses a </a:t>
            </a:r>
            <a:r>
              <a:rPr lang="en-GB" b="1" dirty="0"/>
              <a:t>secret token</a:t>
            </a:r>
            <a:r>
              <a:rPr lang="en-GB" dirty="0"/>
              <a:t> for authentication.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286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5FC0DF-5517-5FE8-4C81-11377EBBA1E5}"/>
              </a:ext>
            </a:extLst>
          </p:cNvPr>
          <p:cNvSpPr txBox="1"/>
          <p:nvPr/>
        </p:nvSpPr>
        <p:spPr>
          <a:xfrm>
            <a:off x="659875" y="1470582"/>
            <a:ext cx="50904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Case 1: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Branch : master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Current version : 3.0.100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Release type :  major, minor, patch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New version : 4.0.0, 3.1.0 , 3.0.101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BB849-334F-5224-C835-B40AEA712F58}"/>
              </a:ext>
            </a:extLst>
          </p:cNvPr>
          <p:cNvSpPr txBox="1"/>
          <p:nvPr/>
        </p:nvSpPr>
        <p:spPr>
          <a:xfrm>
            <a:off x="6667168" y="1470582"/>
            <a:ext cx="50904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Case 2: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Branch :  feature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Current version : 3.0.100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Release type :  patch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New version :  3.0.100.dev1+devSuffix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340B6-FDE7-3B08-585D-9C29B5BFB408}"/>
              </a:ext>
            </a:extLst>
          </p:cNvPr>
          <p:cNvSpPr txBox="1"/>
          <p:nvPr/>
        </p:nvSpPr>
        <p:spPr>
          <a:xfrm>
            <a:off x="659874" y="3836574"/>
            <a:ext cx="50904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Case 3: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Branch : feature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Current version : 3.0.100.dev1+devSuffix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Release type :  patch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New version : 3.0.100.dev1+new_devSuffix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14473-C23E-4064-4ECA-6F1452AFE83B}"/>
              </a:ext>
            </a:extLst>
          </p:cNvPr>
          <p:cNvSpPr txBox="1"/>
          <p:nvPr/>
        </p:nvSpPr>
        <p:spPr>
          <a:xfrm>
            <a:off x="760430" y="546548"/>
            <a:ext cx="6103854" cy="342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IN" sz="3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Bump version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D305E3-45DC-9EA1-4EE1-19121C3C42F8}"/>
              </a:ext>
            </a:extLst>
          </p:cNvPr>
          <p:cNvSpPr txBox="1"/>
          <p:nvPr/>
        </p:nvSpPr>
        <p:spPr>
          <a:xfrm>
            <a:off x="6667168" y="4113573"/>
            <a:ext cx="4457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Commit the updated VERSION file with the message "Bump version“</a:t>
            </a:r>
            <a:r>
              <a:rPr lang="en-GB" dirty="0"/>
              <a:t>and push the changes to the current branch.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445613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1456</TotalTime>
  <Words>396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Gill Sans MT</vt:lpstr>
      <vt:lpstr>Gallery</vt:lpstr>
      <vt:lpstr>INVENTORY_CORE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 GANJI</dc:creator>
  <cp:lastModifiedBy>UDAY GANJI</cp:lastModifiedBy>
  <cp:revision>1</cp:revision>
  <dcterms:created xsi:type="dcterms:W3CDTF">2025-04-13T04:42:51Z</dcterms:created>
  <dcterms:modified xsi:type="dcterms:W3CDTF">2025-04-14T04:58:55Z</dcterms:modified>
</cp:coreProperties>
</file>